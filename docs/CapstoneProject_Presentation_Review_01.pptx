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C4BA09-6795-75CC-4ECF-EA6EB843E6E5}" v="8" dt="2026-08-31T05:20:40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5C2EE-9177-419E-A324-72CF7434715D}" type="datetimeFigureOut"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78203-95D8-4864-9F82-CCD7C43322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70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457200"/>
            <a:ext cx="2011680" cy="20116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  ·  DEPARTMENT OF CSE-3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AI Model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21792" y="306324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containerized platform for deploying, managing and monitoring machine learning models in production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3794760"/>
            <a:ext cx="29260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977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Foundation, Vaddeswaram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709160"/>
            <a:ext cx="7223760" cy="1600200"/>
          </a:xfrm>
          <a:prstGeom prst="roundRect">
            <a:avLst>
              <a:gd name="adj" fmla="val 4571"/>
            </a:avLst>
          </a:prstGeom>
          <a:solidFill>
            <a:srgbClr val="13315C"/>
          </a:solidFill>
          <a:ln/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864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5138928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Vemuri Venkata Naga Sai Sri Harshad  (2300031215)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Pinnamaneni Rohith Venkata Sai  (2300031556)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Ventrapragada Jyothi Swaroop  (2300032529)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Mullapudi Gowtham Chowdary  (2300033079)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47091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00B4D8"/>
          </a:solidFill>
          <a:ln/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4892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51937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R. Ranjith Kumar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5623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Emp. ID: 7026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AI Model Deployment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Machine Learning have become key technologies enabling intelligent decision-making across healthcare, agriculture, finance, manufacturing and smart cities. As organizations increasingly adopt AI, deploying models into production has become critical — yet it brings challenges of scalability, availability, security, and continuous management. Cloud-native technologies solve this by enabling containerized microservices, automated orchestration and cloud infrastructure.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PROPOSE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1012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Cloud-Native AI Model Deployment Platform addresses these challenges by providing a modern, scalable, efficient environment to deploy and manage ML models — automating deployment, simplifying management, improving scalability, and ensuring reliable AI service delivery.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73659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Deployment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5138928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CI/CD-driven container pipelines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457200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13315C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473659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Infrastructure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0" y="5138928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orchestration &amp; auto-scaling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457200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8211312" y="473659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&amp; Monitored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11312" y="5138928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JWT/RBAC security, Prometheus &amp; Grafana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terature Surve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84048"/>
            <a:ext cx="80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58368"/>
            <a:ext cx="900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Papers That Informed Our Design</a:t>
            </a:r>
            <a:endParaRPr lang="en-US" sz="1200" dirty="0"/>
          </a:p>
        </p:txBody>
      </p:sp>
      <p:sp>
        <p:nvSpPr>
          <p:cNvPr id="4" name="Sub"/>
          <p:cNvSpPr/>
          <p:nvPr/>
        </p:nvSpPr>
        <p:spPr>
          <a:xfrm>
            <a:off x="548640" y="1152000"/>
            <a:ext cx="1109472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100" i="1" dirty="0">
              <a:solidFill>
                <a:srgbClr val="51637D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981663"/>
              </p:ext>
            </p:extLst>
          </p:nvPr>
        </p:nvGraphicFramePr>
        <p:xfrm>
          <a:off x="548640" y="1149585"/>
          <a:ext cx="11094720" cy="5210000"/>
        </p:xfrm>
        <a:graphic>
          <a:graphicData uri="http://schemas.openxmlformats.org/drawingml/2006/table">
            <a:tbl>
              <a:tblPr/>
              <a:tblGrid>
                <a:gridCol w="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2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/ Year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Technologies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Our Project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MLOps: Overview, Definition &amp; Architecture (2022)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Kreuzberger et al.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K8s, GitHub Actions, MLflow, Prometheus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the MLOps paradigm our platform implements end-to-end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for Automated Deployment of ML Models (2022)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Ayele &amp; Abegaz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Pipelines, Docker, Kubernetes, GitHub Actions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 for our GitHub Actions + Docker + K8s deployment pipeline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Model Deployment via Kubeflow on Cloud Providers (2022)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Abbasloo et al.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Kubeflow, K8s, AWS, GCP, Azure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our multi-cloud portability goal across AWS/Azure/GCP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Evaluation of Modern MLOps Frameworks (2026)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arXiv:2601.20415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Kubeflow, MLflow, ZenML, K8s, Prometheus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evidence supporting our Kubeflow + Kubernetes stack choice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 &amp; Secure AI Inference: FastAPI vs Triton on K8s (2026)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arXiv:2602.00053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Kubernetes, JWT Auth, RBAC, Prometheus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our FastAPI inference service + JWT/RBAC security design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System for LLM Inference Serving (2025)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arXiv:2507.18007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K8s, Microservices, Dynamic Scheduling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inference architecture mirrors our platform design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Operationalizing Document AI: Microservice Architecture (2026)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arXiv:2605.18818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FastAPI, REST APIs, Microservices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 + FastAPI REST pattern identical to our API Gateway design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Container Orchestration: A Taxonomy (2021)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Zhong, Xu et al.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K8s, Docker, HPA, Resource Management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foundation for our Kubernetes HPA autoscaling design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0" name="FooterL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200" dirty="0"/>
          </a:p>
        </p:txBody>
      </p:sp>
      <p:sp>
        <p:nvSpPr>
          <p:cNvPr id="51" name="FooterR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terature Surve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84048"/>
            <a:ext cx="80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58368"/>
            <a:ext cx="900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Papers That Informed Our Design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732758"/>
              </p:ext>
            </p:extLst>
          </p:nvPr>
        </p:nvGraphicFramePr>
        <p:xfrm>
          <a:off x="548640" y="1233220"/>
          <a:ext cx="11094717" cy="5210000"/>
        </p:xfrm>
        <a:graphic>
          <a:graphicData uri="http://schemas.openxmlformats.org/drawingml/2006/table">
            <a:tbl>
              <a:tblPr/>
              <a:tblGrid>
                <a:gridCol w="31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5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24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/ Year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Technologies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Our Project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Testing for ML Model Serving Systems at Scale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arXiv:2606.22013 (2025)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Kubernetes, Prometheus, REST APIs, Microservices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perf testing for our Inference Service (NFR-PERF-01, NFR-SCALE-01)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 Optimization in Cloud-Based AI Inference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arXiv:2504.15296 (2025)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Balancing, K8s HPA, Prometheus, Grafana, Cloud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our autoscaling design (NFR-SCALE-01, NFR-SCALE-02)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for Predictive Resource Scaling of Microservices on K8s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Rubak &amp; Taheri, UCC 2023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Kubernetes, LSTM, ARIMA, XGBoost, Prometheus, AWS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backing for intelligent K8s autoscaling — future enhancement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&amp; Governed API Gateway for Multi-Cluster Cloud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arXiv:2512.23774 (2025)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Gateway, JWT, RBAC, Kubernetes, Multi-Cloud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maps to our API Gateway design (FR-GW-01 to FR-GW-06)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Multivocal Review of MLOps Practices &amp; Open Issues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arXiv:2406.09737 (2024)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MLOps, CI/CD, Model Registry, Docker, Kubernetes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Holistic view of MLOps challenges — strengthens our problem statement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 &amp; Maintainability Challenges in ML Systems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arXiv:2504.11079 (2025)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Microservices, Docker, Kubernetes, Model Versioning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Reinforces microservices over monolithic — supports SRS Section 2.1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Practitioners' Perspectives on Monitoring ML Systems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arXiv:2509.25195 (2025)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Prometheus, Grafana, Kubernetes, ML Monitoring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our Prometheus + Grafana monitoring design (FR-MON-01–08)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ML Models at the Edge: A Survey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1" dirty="0">
                          <a:solidFill>
                            <a:srgbClr val="5163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arXiv:2403.02619 (2024)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Computing, Raspberry Pi, IoT, Cloud-Edge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foundation for our Raspberry Pi 4 Edge Client component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0" name="FooterL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200" dirty="0"/>
          </a:p>
        </p:txBody>
      </p:sp>
      <p:sp>
        <p:nvSpPr>
          <p:cNvPr id="51" name="FooterR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SRS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SRS defines the platform's functional and non-functional requirements, hardware/software dependencies, and the stakeholder access model.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88036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322783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Secondary &amp; Tertiary tiers, each with a defined role and access level.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96596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222199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35424" y="288036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35424" y="322783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+ RBAC — Super Admin, ML Developer, Operator, API Client, Viewer, Guest.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196596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222199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66176" y="288036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Requirements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66176" y="322783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edge node + free-tier cloud infra — ₹9,000 to ₹15,000 total.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" y="50292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537667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Spring Boot/FastAPI, Docker, Kubernetes, PostgreSQL, Prometheus/Grafana.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79392" y="41148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35424" y="437083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535424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35424" y="50292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35424" y="537667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per stakeholder — e.g. model upload, CI/CD triggers, secure inference calls.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10144" y="41148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66176" y="437083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2" name="Text 30"/>
          <p:cNvSpPr/>
          <p:nvPr/>
        </p:nvSpPr>
        <p:spPr>
          <a:xfrm>
            <a:off x="8266176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66176" y="50292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66176" y="537667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security, availability, maintainability, portability, observability.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Deployment Doesn't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ML deployment relies on monolithic architectures and manual processes. As users and prediction requests grow, these systems degrade in performance, cost more to operate, and become unreliable — making them unfit for modern, high-availability enterprise AI.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1576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15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269748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Monolithic &amp; Manual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64408"/>
            <a:ext cx="3044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are handled by hand, with no automation or repeatability.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251460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3315C"/>
          </a:solidFill>
          <a:ln/>
        </p:spPr>
      </p:sp>
      <p:sp>
        <p:nvSpPr>
          <p:cNvPr id="11" name="Shape 9"/>
          <p:cNvSpPr/>
          <p:nvPr/>
        </p:nvSpPr>
        <p:spPr>
          <a:xfrm>
            <a:off x="4507992" y="271576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715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69748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Scalability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7992" y="3264408"/>
            <a:ext cx="3044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sharply as traffic and prediction requests increase.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10144" y="251460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3315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38744" y="271576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8238744" y="2715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59952" y="269748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Chaos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38744" y="3264408"/>
            <a:ext cx="3044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model versions safely is largely a manual effort.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3315C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45312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44348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Visibility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001768"/>
            <a:ext cx="3044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Failures, health and resource use are hard to monitor in real time.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79392" y="425196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3315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07992" y="445312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507992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0" y="44348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Operating Cost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07992" y="5001768"/>
            <a:ext cx="3044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or oversized infrastructure drives up cost without flexibility.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10144" y="425196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3315C"/>
          </a:solidFill>
          <a:ln/>
        </p:spPr>
      </p:sp>
      <p:sp>
        <p:nvSpPr>
          <p:cNvPr id="31" name="Shape 29"/>
          <p:cNvSpPr/>
          <p:nvPr/>
        </p:nvSpPr>
        <p:spPr>
          <a:xfrm>
            <a:off x="8238744" y="445312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8238744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59952" y="44348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Reliability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38744" y="5001768"/>
            <a:ext cx="3044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recovery — a failed service means real downtime.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Solve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cloud-native pipeline that automates deployment end-to-end, replacing manual effort with orchestration, monitoring and secure APIs.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7627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Containerized Models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318211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model is packaged with Docker for consistent, portable deployment anywhere.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9392" y="192024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217627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35424" y="283464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CI/CD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35424" y="318211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builds, tests and ships new model versions with zero manual steps.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10144" y="192024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217627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66176" y="283464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Orchestration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66176" y="318211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Auto-restarts failed pods, load-balances traffic and scales with demand.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32511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" y="49834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API Gateway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" y="533095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and RBAC control who can call which model, safely.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9392" y="40690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35424" y="432511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535424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35424" y="49834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Monitoring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35424" y="533095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&amp; Grafana track health, latency and resource use continuously.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10144" y="40690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66176" y="432511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2" name="Text 30"/>
          <p:cNvSpPr/>
          <p:nvPr/>
        </p:nvSpPr>
        <p:spPr>
          <a:xfrm>
            <a:off x="8266176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66176" y="49834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Integration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66176" y="533095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Raspberry Pi client proves the platform works beyond the data center, too.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STAKEHOLDERS &amp; CLIENTS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 From This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1907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37744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Development Teams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2990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trained models to production without owning deep infrastructure expertise.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46304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0B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4535424" y="171907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35424" y="237744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&amp; Platform Engineers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834640"/>
            <a:ext cx="2990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one automated pipeline instead of bespoke deployment scripts per model.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46304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0B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171907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66176" y="237744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Clients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66176" y="2834640"/>
            <a:ext cx="2990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finance, agriculture, manufacturing &amp; smart-city organizations needing reliable AI-driven decisions.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05079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4672" y="470916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Users &amp; Applications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5166360"/>
            <a:ext cx="2990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fast, accurate predictions via a simple, secured API.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379476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35424" y="405079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535424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35424" y="470916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Device Operators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35424" y="5166360"/>
            <a:ext cx="2990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Raspberry Pi-class devices that exchange data with cloud-hosted models.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79476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66176" y="405079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8266176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66176" y="470916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Evaluators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66176" y="5166360"/>
            <a:ext cx="2990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and the university, assessing hands-on, industry-aligned engineering practice.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SYSTEM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Prediction Request Flows Through The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PIPELINE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331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14600" y="1874520"/>
            <a:ext cx="201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15768" y="187452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331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5768" y="18745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81728" y="1874520"/>
            <a:ext cx="201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82896" y="187452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331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8745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Build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48856" y="1874520"/>
            <a:ext cx="201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50024" y="187452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331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0024" y="18745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 Actions)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015984" y="1874520"/>
            <a:ext cx="201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17152" y="187452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331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18745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REQUEST FLOW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118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Edge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63240" y="361188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91840" y="361188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36118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 &amp; Routing)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361188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35040" y="361188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36118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49640" y="361188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778240" y="361188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0" y="36118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513892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138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5087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 &amp; Self-Healing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508760" y="5376672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&amp; Grafana track health and metrics; Kubernetes auto-restarts failed containers and rebalances load across both pipelines above.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TECH STACK &amp;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Used &amp; Who Built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2880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14016" y="17373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182880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23744" y="2121408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17373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82880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0" y="2121408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Kubernetes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71216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962656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3255264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14016" y="2871216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3744" y="2962656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23744" y="3255264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GCP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9392" y="2871216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2962656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0" y="3255264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 Actions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05072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0965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" y="438912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14016" y="4005072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3744" y="40965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23744" y="438912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79392" y="4005072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40965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89120" y="438912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RBAC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173736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0B2545"/>
          </a:solidFill>
          <a:ln/>
        </p:spPr>
      </p:sp>
      <p:sp>
        <p:nvSpPr>
          <p:cNvPr id="34" name="Shape 32"/>
          <p:cNvSpPr/>
          <p:nvPr/>
        </p:nvSpPr>
        <p:spPr>
          <a:xfrm>
            <a:off x="6537960" y="190195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178040" y="182880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Architect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78040" y="215798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&amp; topology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269748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13315C"/>
          </a:solidFill>
          <a:ln/>
        </p:spPr>
      </p:sp>
      <p:sp>
        <p:nvSpPr>
          <p:cNvPr id="39" name="Shape 37"/>
          <p:cNvSpPr/>
          <p:nvPr/>
        </p:nvSpPr>
        <p:spPr>
          <a:xfrm>
            <a:off x="6537960" y="286207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178040" y="27889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&amp; Containerization Engineer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78040" y="311810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 &amp; CI/CD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55080" y="365760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0B2545"/>
          </a:solidFill>
          <a:ln/>
        </p:spPr>
      </p:sp>
      <p:sp>
        <p:nvSpPr>
          <p:cNvPr id="44" name="Shape 42"/>
          <p:cNvSpPr/>
          <p:nvPr/>
        </p:nvSpPr>
        <p:spPr>
          <a:xfrm>
            <a:off x="6537960" y="382219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3822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178040" y="37490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Microservices Developer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178040" y="407822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services &amp; data storage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55080" y="461772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13315C"/>
          </a:solidFill>
          <a:ln/>
        </p:spPr>
      </p:sp>
      <p:sp>
        <p:nvSpPr>
          <p:cNvPr id="49" name="Shape 47"/>
          <p:cNvSpPr/>
          <p:nvPr/>
        </p:nvSpPr>
        <p:spPr>
          <a:xfrm>
            <a:off x="6537960" y="478231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0" name="Text 48"/>
          <p:cNvSpPr/>
          <p:nvPr/>
        </p:nvSpPr>
        <p:spPr>
          <a:xfrm>
            <a:off x="6537960" y="4782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7178040" y="470916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Integration &amp; Project Lead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178040" y="503834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testing &amp; docs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HARDWARE &amp;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Budget, Six-Month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COST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394960" cy="2962656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(INR)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MicroSD Card, 64GB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/ Dev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SSD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 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Platform (Free Tier)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Cables &amp; Accessories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3776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9377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₹9,000 – ₹15,000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DELIVERY PLAN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" name="Text 7"/>
          <p:cNvSpPr/>
          <p:nvPr/>
        </p:nvSpPr>
        <p:spPr>
          <a:xfrm>
            <a:off x="6263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7007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System Design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766560" y="195681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Capstone-1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232257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2322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2286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Dev Environment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766560" y="25420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Capstone-1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63640" y="2907792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66560" y="28712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Microservices &amp; APIs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766560" y="31272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Capstone-1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63640" y="349300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3493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66560" y="34564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Deployment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766560" y="371246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Capstone-2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63640" y="4078224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3"/>
          <p:cNvSpPr/>
          <p:nvPr/>
        </p:nvSpPr>
        <p:spPr>
          <a:xfrm>
            <a:off x="6263640" y="4078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66560" y="40416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Logging &amp; Auto-Scaling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766560" y="42976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Capstone-2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263640" y="466344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7"/>
          <p:cNvSpPr/>
          <p:nvPr/>
        </p:nvSpPr>
        <p:spPr>
          <a:xfrm>
            <a:off x="626364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766560" y="46268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Documentation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6766560" y="488289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Capstone-2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263640" y="5577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Size: 4 Students   ·   Duration: 6 Months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PRIOR 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Compare To Existing Platforms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solutions already exist in industry. Our project's value is hands-on, low-cost, vendor-neutral engineering built end-to-end by the team.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40156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SageMaker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Vertex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KServe (OSS)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Self-hosted, 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Self-hosted, cloud-native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Pay-per-use, costly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Pay-per-use, costly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Pay-per-use, costly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cost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 friendly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(Raspberry 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learning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(abstracted)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(abstracted)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(abstracted)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existing analog: KServe / Seldon Core (open-source model-serving on Kubernetes). Our platform differentiates with an integrated edge-computing demo, a full DevOps pipeline built from scratch, and a learning-first architecture rather than a production black box.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HONEST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The Current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EA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58568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Small-Scale Testing Only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a limited cluster; not load-tested at true enterprise traffic volumes.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50876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EAE5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07992" y="2258568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Free-Tier Cloud Constraints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07992" y="265176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AWS/Azure/GCP free-tier limits cap the scale of realistic benchmarking.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50876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8744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EA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38744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8744" y="2258568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Auto-Scaling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38744" y="265176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advanced multi-cloud failover or predictive scaling in this prototype phase.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8862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EAE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407408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Security Only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covers access control, not full enterprise compliance (HIPAA, SOC2).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36576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38862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EAE5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07992" y="4407408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Model 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07992" y="480060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drift detection or continuous model-quality monitoring yet.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6576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8744" y="38862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EAE5"/>
          </a:solidFill>
          <a:ln/>
        </p:spPr>
      </p:sp>
      <p:sp>
        <p:nvSpPr>
          <p:cNvPr id="31" name="Text 29"/>
          <p:cNvSpPr/>
          <p:nvPr/>
        </p:nvSpPr>
        <p:spPr>
          <a:xfrm>
            <a:off x="8238744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38744" y="4407408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Edge Setup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38744" y="480060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Raspberry Pi demonstrates the concept, not a production edge fleet.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389120" cy="43891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Cloud-Native AI Model Deployment Platform integrates containerization, orchestration, DevOps and edge computing into one reliable pipeline — replacing manual, fragile deployment with automated, scalable AI service delivery.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13315C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47672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37744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Auto-Scaling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1331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6432" y="1947672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56432" y="237744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Lifecycle Mgmt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78308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13315C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9632" y="1947672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237744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Deployment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178308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1331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942832" y="1947672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8942832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42832" y="237744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Enterprise-Scale AI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0" y="3200400"/>
            <a:ext cx="12188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5175504" y="4251960"/>
            <a:ext cx="182880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389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 and feedback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Model Deployment Platform  ·  CSE-3  ·  KL University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8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Vemuri Harshad  ·  Pinnamaneni Rohith  ·  Ventrapragada Jyothi Swaroop  ·  Mullapudi Gowtham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8</cp:revision>
  <dcterms:created xsi:type="dcterms:W3CDTF">2026-08-14T03:06:52Z</dcterms:created>
  <dcterms:modified xsi:type="dcterms:W3CDTF">2026-08-31T05:21:09Z</dcterms:modified>
</cp:coreProperties>
</file>